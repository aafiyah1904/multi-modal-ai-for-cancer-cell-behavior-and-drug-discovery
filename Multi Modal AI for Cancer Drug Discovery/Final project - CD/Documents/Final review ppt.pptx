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75" r:id="rId4"/>
    <p:sldId id="258" r:id="rId5"/>
    <p:sldId id="260" r:id="rId6"/>
    <p:sldId id="264" r:id="rId7"/>
    <p:sldId id="259" r:id="rId8"/>
    <p:sldId id="295" r:id="rId9"/>
    <p:sldId id="296" r:id="rId10"/>
    <p:sldId id="304" r:id="rId11"/>
    <p:sldId id="271" r:id="rId12"/>
    <p:sldId id="272" r:id="rId13"/>
    <p:sldId id="297" r:id="rId14"/>
    <p:sldId id="298" r:id="rId15"/>
    <p:sldId id="261" r:id="rId16"/>
    <p:sldId id="262" r:id="rId17"/>
    <p:sldId id="268" r:id="rId18"/>
    <p:sldId id="286" r:id="rId19"/>
    <p:sldId id="287" r:id="rId20"/>
    <p:sldId id="305" r:id="rId21"/>
    <p:sldId id="300" r:id="rId22"/>
    <p:sldId id="306" r:id="rId23"/>
    <p:sldId id="307" r:id="rId24"/>
    <p:sldId id="308" r:id="rId25"/>
    <p:sldId id="292" r:id="rId26"/>
    <p:sldId id="276" r:id="rId27"/>
    <p:sldId id="277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43"/>
      </p:cViewPr>
      <p:guideLst>
        <p:guide orient="horz" pos="289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696C064A-D61B-4B21-B757-51A9B82445B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12700">
              <a:lnSpc>
                <a:spcPts val="1030"/>
              </a:lnSpc>
            </a:pPr>
            <a:r>
              <a:rPr sz="1650" spc="-37" baseline="-15000" dirty="0"/>
              <a:t>1</a:t>
            </a:r>
            <a:r>
              <a:rPr sz="700" spc="-25" dirty="0"/>
              <a:t>st</a:t>
            </a:r>
            <a:endParaRPr sz="7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40" dirty="0"/>
              <a:t>BLOCKCHAIN-</a:t>
            </a:r>
            <a:r>
              <a:rPr spc="-20" dirty="0"/>
              <a:t>INTEGRATED</a:t>
            </a:r>
            <a:r>
              <a:rPr spc="20" dirty="0"/>
              <a:t> </a:t>
            </a:r>
            <a:r>
              <a:rPr dirty="0"/>
              <a:t>ELLIPTIC</a:t>
            </a:r>
            <a:r>
              <a:rPr spc="-25" dirty="0"/>
              <a:t> </a:t>
            </a:r>
            <a:r>
              <a:rPr dirty="0"/>
              <a:t>CURVE</a:t>
            </a:r>
            <a:r>
              <a:rPr spc="-5" dirty="0"/>
              <a:t> </a:t>
            </a:r>
            <a:r>
              <a:rPr spc="-20" dirty="0"/>
              <a:t>CRYPTOGRAPHY</a:t>
            </a:r>
            <a:r>
              <a:rPr dirty="0"/>
              <a:t> FOR</a:t>
            </a:r>
            <a:r>
              <a:rPr spc="-25" dirty="0"/>
              <a:t> </a:t>
            </a:r>
            <a:r>
              <a:rPr dirty="0"/>
              <a:t>SECURE</a:t>
            </a:r>
            <a:r>
              <a:rPr spc="-20" dirty="0"/>
              <a:t> </a:t>
            </a:r>
            <a:r>
              <a:rPr spc="-75" dirty="0"/>
              <a:t>DATA</a:t>
            </a:r>
            <a:r>
              <a:rPr spc="-110" dirty="0"/>
              <a:t> </a:t>
            </a:r>
            <a:r>
              <a:rPr spc="-10" dirty="0"/>
              <a:t>SHARING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12700">
              <a:lnSpc>
                <a:spcPts val="1030"/>
              </a:lnSpc>
            </a:pPr>
            <a:r>
              <a:rPr sz="1650" spc="-37" baseline="-15000" dirty="0"/>
              <a:t>1</a:t>
            </a:r>
            <a:r>
              <a:rPr sz="700" spc="-25" dirty="0"/>
              <a:t>st</a:t>
            </a:r>
            <a:endParaRPr sz="7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40" dirty="0"/>
              <a:t>BLOCKCHAIN-</a:t>
            </a:r>
            <a:r>
              <a:rPr spc="-20" dirty="0"/>
              <a:t>INTEGRATED</a:t>
            </a:r>
            <a:r>
              <a:rPr spc="20" dirty="0"/>
              <a:t> </a:t>
            </a:r>
            <a:r>
              <a:rPr dirty="0"/>
              <a:t>ELLIPTIC</a:t>
            </a:r>
            <a:r>
              <a:rPr spc="-25" dirty="0"/>
              <a:t> </a:t>
            </a:r>
            <a:r>
              <a:rPr dirty="0"/>
              <a:t>CURVE</a:t>
            </a:r>
            <a:r>
              <a:rPr spc="-5" dirty="0"/>
              <a:t> </a:t>
            </a:r>
            <a:r>
              <a:rPr spc="-20" dirty="0"/>
              <a:t>CRYPTOGRAPHY</a:t>
            </a:r>
            <a:r>
              <a:rPr dirty="0"/>
              <a:t> FOR</a:t>
            </a:r>
            <a:r>
              <a:rPr spc="-25" dirty="0"/>
              <a:t> </a:t>
            </a:r>
            <a:r>
              <a:rPr dirty="0"/>
              <a:t>SECURE</a:t>
            </a:r>
            <a:r>
              <a:rPr spc="-20" dirty="0"/>
              <a:t> </a:t>
            </a:r>
            <a:r>
              <a:rPr spc="-75" dirty="0"/>
              <a:t>DATA</a:t>
            </a:r>
            <a:r>
              <a:rPr spc="-110" dirty="0"/>
              <a:t> </a:t>
            </a:r>
            <a:r>
              <a:rPr spc="-10" dirty="0"/>
              <a:t>SHARING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12700">
              <a:lnSpc>
                <a:spcPts val="1030"/>
              </a:lnSpc>
            </a:pPr>
            <a:r>
              <a:rPr sz="1650" spc="-37" baseline="-15000" dirty="0"/>
              <a:t>1</a:t>
            </a:r>
            <a:r>
              <a:rPr sz="700" spc="-25" dirty="0"/>
              <a:t>st</a:t>
            </a:r>
            <a:endParaRPr sz="7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40" dirty="0"/>
              <a:t>BLOCKCHAIN-</a:t>
            </a:r>
            <a:r>
              <a:rPr spc="-20" dirty="0"/>
              <a:t>INTEGRATED</a:t>
            </a:r>
            <a:r>
              <a:rPr spc="20" dirty="0"/>
              <a:t> </a:t>
            </a:r>
            <a:r>
              <a:rPr dirty="0"/>
              <a:t>ELLIPTIC</a:t>
            </a:r>
            <a:r>
              <a:rPr spc="-25" dirty="0"/>
              <a:t> </a:t>
            </a:r>
            <a:r>
              <a:rPr dirty="0"/>
              <a:t>CURVE</a:t>
            </a:r>
            <a:r>
              <a:rPr spc="-5" dirty="0"/>
              <a:t> </a:t>
            </a:r>
            <a:r>
              <a:rPr spc="-20" dirty="0"/>
              <a:t>CRYPTOGRAPHY</a:t>
            </a:r>
            <a:r>
              <a:rPr dirty="0"/>
              <a:t> FOR</a:t>
            </a:r>
            <a:r>
              <a:rPr spc="-25" dirty="0"/>
              <a:t> </a:t>
            </a:r>
            <a:r>
              <a:rPr dirty="0"/>
              <a:t>SECURE</a:t>
            </a:r>
            <a:r>
              <a:rPr spc="-20" dirty="0"/>
              <a:t> </a:t>
            </a:r>
            <a:r>
              <a:rPr spc="-75" dirty="0"/>
              <a:t>DATA</a:t>
            </a:r>
            <a:r>
              <a:rPr spc="-110" dirty="0"/>
              <a:t> </a:t>
            </a:r>
            <a:r>
              <a:rPr spc="-10" dirty="0"/>
              <a:t>SHARING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12700">
              <a:lnSpc>
                <a:spcPts val="1030"/>
              </a:lnSpc>
            </a:pPr>
            <a:r>
              <a:rPr sz="1650" spc="-37" baseline="-15000" dirty="0"/>
              <a:t>1</a:t>
            </a:r>
            <a:r>
              <a:rPr sz="700" spc="-25" dirty="0"/>
              <a:t>st</a:t>
            </a:r>
            <a:endParaRPr sz="7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40" dirty="0"/>
              <a:t>BLOCKCHAIN-</a:t>
            </a:r>
            <a:r>
              <a:rPr spc="-20" dirty="0"/>
              <a:t>INTEGRATED</a:t>
            </a:r>
            <a:r>
              <a:rPr spc="20" dirty="0"/>
              <a:t> </a:t>
            </a:r>
            <a:r>
              <a:rPr dirty="0"/>
              <a:t>ELLIPTIC</a:t>
            </a:r>
            <a:r>
              <a:rPr spc="-25" dirty="0"/>
              <a:t> </a:t>
            </a:r>
            <a:r>
              <a:rPr dirty="0"/>
              <a:t>CURVE</a:t>
            </a:r>
            <a:r>
              <a:rPr spc="-5" dirty="0"/>
              <a:t> </a:t>
            </a:r>
            <a:r>
              <a:rPr spc="-20" dirty="0"/>
              <a:t>CRYPTOGRAPHY</a:t>
            </a:r>
            <a:r>
              <a:rPr dirty="0"/>
              <a:t> FOR</a:t>
            </a:r>
            <a:r>
              <a:rPr spc="-25" dirty="0"/>
              <a:t> </a:t>
            </a:r>
            <a:r>
              <a:rPr dirty="0"/>
              <a:t>SECURE</a:t>
            </a:r>
            <a:r>
              <a:rPr spc="-20" dirty="0"/>
              <a:t> </a:t>
            </a:r>
            <a:r>
              <a:rPr spc="-75" dirty="0"/>
              <a:t>DATA</a:t>
            </a:r>
            <a:r>
              <a:rPr spc="-110" dirty="0"/>
              <a:t> </a:t>
            </a:r>
            <a:r>
              <a:rPr spc="-10" dirty="0"/>
              <a:t>SHARING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12700">
              <a:lnSpc>
                <a:spcPts val="1030"/>
              </a:lnSpc>
            </a:pPr>
            <a:r>
              <a:rPr sz="1650" spc="-37" baseline="-15000" dirty="0"/>
              <a:t>1</a:t>
            </a:r>
            <a:r>
              <a:rPr sz="700" spc="-25" dirty="0"/>
              <a:t>st</a:t>
            </a:r>
            <a:endParaRPr sz="7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40" dirty="0"/>
              <a:t>BLOCKCHAIN-</a:t>
            </a:r>
            <a:r>
              <a:rPr spc="-20" dirty="0"/>
              <a:t>INTEGRATED</a:t>
            </a:r>
            <a:r>
              <a:rPr spc="20" dirty="0"/>
              <a:t> </a:t>
            </a:r>
            <a:r>
              <a:rPr dirty="0"/>
              <a:t>ELLIPTIC</a:t>
            </a:r>
            <a:r>
              <a:rPr spc="-25" dirty="0"/>
              <a:t> </a:t>
            </a:r>
            <a:r>
              <a:rPr dirty="0"/>
              <a:t>CURVE</a:t>
            </a:r>
            <a:r>
              <a:rPr spc="-5" dirty="0"/>
              <a:t> </a:t>
            </a:r>
            <a:r>
              <a:rPr spc="-20" dirty="0"/>
              <a:t>CRYPTOGRAPHY</a:t>
            </a:r>
            <a:r>
              <a:rPr dirty="0"/>
              <a:t> FOR</a:t>
            </a:r>
            <a:r>
              <a:rPr spc="-25" dirty="0"/>
              <a:t> </a:t>
            </a:r>
            <a:r>
              <a:rPr dirty="0"/>
              <a:t>SECURE</a:t>
            </a:r>
            <a:r>
              <a:rPr spc="-20" dirty="0"/>
              <a:t> </a:t>
            </a:r>
            <a:r>
              <a:rPr spc="-75" dirty="0"/>
              <a:t>DATA</a:t>
            </a:r>
            <a:r>
              <a:rPr spc="-110" dirty="0"/>
              <a:t> </a:t>
            </a:r>
            <a:r>
              <a:rPr spc="-10" dirty="0"/>
              <a:t>SHARING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03764" y="245363"/>
            <a:ext cx="1566672" cy="44653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44411"/>
            <a:ext cx="12192000" cy="513080"/>
          </a:xfrm>
          <a:custGeom>
            <a:avLst/>
            <a:gdLst/>
            <a:ahLst/>
            <a:cxnLst/>
            <a:rect l="l" t="t" r="r" b="b"/>
            <a:pathLst>
              <a:path w="12192000" h="513079">
                <a:moveTo>
                  <a:pt x="12192000" y="0"/>
                </a:moveTo>
                <a:lnTo>
                  <a:pt x="0" y="0"/>
                </a:lnTo>
                <a:lnTo>
                  <a:pt x="0" y="513003"/>
                </a:lnTo>
                <a:lnTo>
                  <a:pt x="12192000" y="513003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344411"/>
            <a:ext cx="12192000" cy="513080"/>
          </a:xfrm>
          <a:custGeom>
            <a:avLst/>
            <a:gdLst/>
            <a:ahLst/>
            <a:cxnLst/>
            <a:rect l="l" t="t" r="r" b="b"/>
            <a:pathLst>
              <a:path w="12192000" h="513079">
                <a:moveTo>
                  <a:pt x="0" y="513003"/>
                </a:moveTo>
                <a:lnTo>
                  <a:pt x="12192000" y="513003"/>
                </a:lnTo>
                <a:lnTo>
                  <a:pt x="12192000" y="0"/>
                </a:lnTo>
                <a:lnTo>
                  <a:pt x="0" y="0"/>
                </a:lnTo>
                <a:lnTo>
                  <a:pt x="0" y="513003"/>
                </a:lnTo>
                <a:close/>
              </a:path>
            </a:pathLst>
          </a:custGeom>
          <a:ln w="12192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9084" y="503631"/>
            <a:ext cx="4548886" cy="8443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7900" y="1469466"/>
            <a:ext cx="4906010" cy="2098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9409" y="6507756"/>
            <a:ext cx="163195" cy="182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12700">
              <a:lnSpc>
                <a:spcPts val="1030"/>
              </a:lnSpc>
            </a:pPr>
            <a:r>
              <a:rPr sz="1650" spc="-37" baseline="-15000" dirty="0"/>
              <a:t>1</a:t>
            </a:r>
            <a:r>
              <a:rPr sz="700" spc="-25" dirty="0"/>
              <a:t>st</a:t>
            </a:r>
            <a:endParaRPr sz="7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929510" y="6483959"/>
            <a:ext cx="8284209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40" dirty="0"/>
              <a:t>BLOCKCHAIN-</a:t>
            </a:r>
            <a:r>
              <a:rPr spc="-20" dirty="0"/>
              <a:t>INTEGRATED</a:t>
            </a:r>
            <a:r>
              <a:rPr spc="20" dirty="0"/>
              <a:t> </a:t>
            </a:r>
            <a:r>
              <a:rPr dirty="0"/>
              <a:t>ELLIPTIC</a:t>
            </a:r>
            <a:r>
              <a:rPr spc="-25" dirty="0"/>
              <a:t> </a:t>
            </a:r>
            <a:r>
              <a:rPr dirty="0"/>
              <a:t>CURVE</a:t>
            </a:r>
            <a:r>
              <a:rPr spc="-5" dirty="0"/>
              <a:t> </a:t>
            </a:r>
            <a:r>
              <a:rPr spc="-20" dirty="0"/>
              <a:t>CRYPTOGRAPHY</a:t>
            </a:r>
            <a:r>
              <a:rPr dirty="0"/>
              <a:t> FOR</a:t>
            </a:r>
            <a:r>
              <a:rPr spc="-25" dirty="0"/>
              <a:t> </a:t>
            </a:r>
            <a:r>
              <a:rPr dirty="0"/>
              <a:t>SECURE</a:t>
            </a:r>
            <a:r>
              <a:rPr spc="-20" dirty="0"/>
              <a:t> </a:t>
            </a:r>
            <a:r>
              <a:rPr spc="-75" dirty="0"/>
              <a:t>DATA</a:t>
            </a:r>
            <a:r>
              <a:rPr spc="-110" dirty="0"/>
              <a:t> </a:t>
            </a:r>
            <a:r>
              <a:rPr spc="-10" dirty="0"/>
              <a:t>SHARING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319" y="245363"/>
            <a:ext cx="2452116" cy="69799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095" y="6338315"/>
            <a:ext cx="12204700" cy="525780"/>
            <a:chOff x="-6095" y="6338315"/>
            <a:chExt cx="12204700" cy="525780"/>
          </a:xfrm>
        </p:grpSpPr>
        <p:sp>
          <p:nvSpPr>
            <p:cNvPr id="4" name="object 4"/>
            <p:cNvSpPr/>
            <p:nvPr/>
          </p:nvSpPr>
          <p:spPr>
            <a:xfrm>
              <a:off x="0" y="6344411"/>
              <a:ext cx="12192000" cy="513080"/>
            </a:xfrm>
            <a:custGeom>
              <a:avLst/>
              <a:gdLst/>
              <a:ahLst/>
              <a:cxnLst/>
              <a:rect l="l" t="t" r="r" b="b"/>
              <a:pathLst>
                <a:path w="12192000" h="513079">
                  <a:moveTo>
                    <a:pt x="12192000" y="0"/>
                  </a:moveTo>
                  <a:lnTo>
                    <a:pt x="0" y="0"/>
                  </a:lnTo>
                  <a:lnTo>
                    <a:pt x="0" y="513003"/>
                  </a:lnTo>
                  <a:lnTo>
                    <a:pt x="12192000" y="51300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344411"/>
              <a:ext cx="12192000" cy="513080"/>
            </a:xfrm>
            <a:custGeom>
              <a:avLst/>
              <a:gdLst/>
              <a:ahLst/>
              <a:cxnLst/>
              <a:rect l="l" t="t" r="r" b="b"/>
              <a:pathLst>
                <a:path w="12192000" h="513079">
                  <a:moveTo>
                    <a:pt x="0" y="513003"/>
                  </a:moveTo>
                  <a:lnTo>
                    <a:pt x="12192000" y="51300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13003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86789" y="918845"/>
            <a:ext cx="9000211" cy="188404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lang="en-US" altLang="en-GB" sz="1800" b="0" spc="-45" dirty="0">
                <a:solidFill>
                  <a:schemeClr val="tx1"/>
                </a:solidFill>
              </a:rPr>
              <a:t>3</a:t>
            </a:r>
            <a:r>
              <a:rPr lang="en-US" altLang="en-US" sz="1800" b="0" spc="-45" dirty="0">
                <a:solidFill>
                  <a:schemeClr val="tx1"/>
                </a:solidFill>
              </a:rPr>
              <a:t>ʳ</a:t>
            </a:r>
            <a:r>
              <a:rPr lang="" altLang="en-US" sz="1800" b="0" spc="-45" dirty="0">
                <a:solidFill>
                  <a:schemeClr val="tx1"/>
                </a:solidFill>
              </a:rPr>
              <a:t>ᵈ</a:t>
            </a:r>
            <a:r>
              <a:rPr lang="en-IN" altLang="en-US" sz="1800" b="0" spc="-45" dirty="0">
                <a:solidFill>
                  <a:schemeClr val="tx1"/>
                </a:solidFill>
              </a:rPr>
              <a:t> REVIEW</a:t>
            </a:r>
            <a:br>
              <a:rPr lang="en-US" spc="-45" dirty="0"/>
            </a:br>
            <a:r>
              <a:rPr lang="en-US" sz="1500" spc="-45" dirty="0"/>
              <a:t> </a:t>
            </a:r>
            <a:br>
              <a:rPr lang="en-US" spc="-45" dirty="0"/>
            </a:br>
            <a:r>
              <a:rPr lang="en-US" spc="-45" dirty="0"/>
              <a:t>MULTI-MODAL AI FOR CANCER CELL BEHAVIOUR AND</a:t>
            </a:r>
            <a:br>
              <a:rPr lang="en-US" spc="-45" dirty="0"/>
            </a:br>
            <a:r>
              <a:rPr lang="en-US" spc="-45" dirty="0"/>
              <a:t>DRUG DISCOVERY</a:t>
            </a:r>
            <a:endParaRPr lang="en-US" altLang="en-GB"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6629400" y="3587115"/>
            <a:ext cx="4582160" cy="1428115"/>
          </a:xfrm>
          <a:prstGeom prst="rect">
            <a:avLst/>
          </a:prstGeom>
        </p:spPr>
        <p:txBody>
          <a:bodyPr vert="horz" wrap="square" lIns="0" tIns="1524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b="1" dirty="0">
                <a:latin typeface="Arial" panose="020B0604020202020204"/>
                <a:cs typeface="Arial" panose="020B0604020202020204"/>
              </a:rPr>
              <a:t>NAME</a:t>
            </a:r>
            <a:r>
              <a:rPr sz="18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THE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STUDENTS:</a:t>
            </a:r>
            <a:endParaRPr lang="en-IN" sz="1800" b="1" spc="-1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lang="en-IN" sz="1800" dirty="0">
                <a:latin typeface="Microsoft Sans Serif" panose="020B0604020202020204"/>
                <a:cs typeface="Microsoft Sans Serif" panose="020B0604020202020204"/>
              </a:rPr>
              <a:t>AAFIYAH TASNEEM H (220071601001)</a:t>
            </a: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lang="en-IN" sz="1800" dirty="0">
                <a:latin typeface="Microsoft Sans Serif" panose="020B0604020202020204"/>
                <a:cs typeface="Microsoft Sans Serif" panose="020B0604020202020204"/>
              </a:rPr>
              <a:t>FAATHIMA NAWFA B (220071601059) </a:t>
            </a: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endParaRPr lang="en-IN" sz="18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6365" y="3571875"/>
            <a:ext cx="3764280" cy="16619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latin typeface="Arial" panose="020B0604020202020204"/>
                <a:cs typeface="Arial" panose="020B0604020202020204"/>
              </a:rPr>
              <a:t>PROJECT</a:t>
            </a:r>
            <a:r>
              <a:rPr sz="18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SUPERVISOR: </a:t>
            </a:r>
            <a:endParaRPr lang="en-IN" sz="1800" b="1" spc="-10" dirty="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IN" sz="1800" spc="-10" dirty="0">
                <a:latin typeface="Arial" panose="020B0604020202020204"/>
                <a:cs typeface="Arial" panose="020B0604020202020204"/>
              </a:rPr>
              <a:t>Dr. E.SYED MOHAMED</a:t>
            </a: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IN" sz="1800" spc="-10" dirty="0">
                <a:latin typeface="Arial" panose="020B0604020202020204"/>
                <a:cs typeface="Arial" panose="020B0604020202020204"/>
              </a:rPr>
              <a:t>PROFESSOR</a:t>
            </a: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endParaRPr sz="1800" b="1"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657600" y="5334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GB" b="1" dirty="0"/>
              <a:t>TEAM 01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643380" y="432435"/>
            <a:ext cx="7280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altLang="en-GB"/>
              <a:t>DEPARTMENT OF COMPUTER SCIENCE AND ENGINEERING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146" y="785850"/>
            <a:ext cx="32442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314" y="1447800"/>
            <a:ext cx="11037570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• Cancer treatment requires identifying drugs that effectively target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behavior and biological characteristics.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behavior varies due to differences in cellular structure and biological activity, making drug selection complex.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• Traditional drug discovery relies on laboratory experiments and clinical trials, which are time-consuming and expensive.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• Advances in Artificial Intelligence and computational pathology enable automated analysis of histopathology images to extract meaningful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features.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• Integrating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phenotype information with molecular drug intelligence can help identify potential therapeutic candidates.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12222BD-9719-5C18-B361-A5EA97FB8EA7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 noGrp="1"/>
          </p:cNvSpPr>
          <p:nvPr>
            <p:ph type="title"/>
          </p:nvPr>
        </p:nvSpPr>
        <p:spPr>
          <a:xfrm>
            <a:off x="571185" y="550317"/>
            <a:ext cx="486346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b="1" dirty="0"/>
              <a:t>PROBLEM</a:t>
            </a:r>
            <a:r>
              <a:rPr lang="en-IN" sz="2400" b="1" dirty="0"/>
              <a:t> </a:t>
            </a:r>
            <a:r>
              <a:rPr lang="en-IN" sz="2800" b="1" dirty="0"/>
              <a:t>STATEMENT</a:t>
            </a:r>
            <a:endParaRPr lang="en-IN" sz="2800" b="1" spc="-10" dirty="0"/>
          </a:p>
        </p:txBody>
      </p:sp>
      <p:sp>
        <p:nvSpPr>
          <p:cNvPr id="5" name="Text Box 4"/>
          <p:cNvSpPr txBox="1"/>
          <p:nvPr/>
        </p:nvSpPr>
        <p:spPr>
          <a:xfrm>
            <a:off x="519430" y="1066800"/>
            <a:ext cx="10312400" cy="4913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en-GB" dirty="0"/>
              <a:t>Most existing cancer diagnosis systems focus mainly on </a:t>
            </a:r>
            <a:r>
              <a:rPr lang="en-US" altLang="en-GB" dirty="0" err="1"/>
              <a:t>tumour</a:t>
            </a:r>
            <a:r>
              <a:rPr lang="en-US" altLang="en-GB" dirty="0"/>
              <a:t> detection and classification, rather than recommending suitable treatments.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en-GB" dirty="0"/>
              <a:t>Histopathology images contain important biological information about </a:t>
            </a:r>
            <a:r>
              <a:rPr lang="en-US" altLang="en-GB" dirty="0" err="1"/>
              <a:t>tumour</a:t>
            </a:r>
            <a:r>
              <a:rPr lang="en-US" altLang="en-GB" dirty="0"/>
              <a:t> behavior, but this information is rarely used in drug discovery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en-GB" dirty="0"/>
              <a:t>Many drug prediction systems do not incorporate </a:t>
            </a:r>
            <a:r>
              <a:rPr lang="en-US" altLang="en-GB" dirty="0" err="1"/>
              <a:t>tumour</a:t>
            </a:r>
            <a:r>
              <a:rPr lang="en-US" altLang="en-GB" dirty="0"/>
              <a:t> morphology or tissue characteristics, limiting their effectiveness.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en-GB" dirty="0"/>
              <a:t>There is limited integration between </a:t>
            </a:r>
            <a:r>
              <a:rPr lang="en-US" altLang="en-GB" dirty="0" err="1"/>
              <a:t>tumour</a:t>
            </a:r>
            <a:r>
              <a:rPr lang="en-US" altLang="en-GB" dirty="0"/>
              <a:t> analysis and pharmacological knowledge.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en-GB" dirty="0"/>
              <a:t>This creates a gap between </a:t>
            </a:r>
            <a:r>
              <a:rPr lang="en-US" altLang="en-GB" dirty="0" err="1"/>
              <a:t>tumour</a:t>
            </a:r>
            <a:r>
              <a:rPr lang="en-US" altLang="en-GB" dirty="0"/>
              <a:t> diagnosis and personalized drug recommendation.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5445E22-B024-E9AA-CA39-976437BF9639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185" y="782955"/>
            <a:ext cx="303657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OBJECTIVES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447800"/>
            <a:ext cx="11030585" cy="38100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355600" indent="-342900" algn="just">
              <a:lnSpc>
                <a:spcPct val="200000"/>
              </a:lnSpc>
              <a:spcBef>
                <a:spcPts val="100"/>
              </a:spcBef>
              <a:buFont typeface="+mj-lt"/>
              <a:buAutoNum type="arabicPeriod"/>
              <a:tabLst>
                <a:tab pos="299085" algn="l"/>
                <a:tab pos="2612390" algn="l"/>
                <a:tab pos="3488690" algn="l"/>
                <a:tab pos="8025130" algn="l"/>
                <a:tab pos="9951720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Extract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phenotype information from histopathology images to understand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morphology and behavior.</a:t>
            </a:r>
          </a:p>
          <a:p>
            <a:pPr marL="355600" indent="-342900" algn="just">
              <a:lnSpc>
                <a:spcPct val="200000"/>
              </a:lnSpc>
              <a:spcBef>
                <a:spcPts val="100"/>
              </a:spcBef>
              <a:buFont typeface="+mj-lt"/>
              <a:buAutoNum type="arabicPeriod"/>
              <a:tabLst>
                <a:tab pos="299085" algn="l"/>
                <a:tab pos="2612390" algn="l"/>
                <a:tab pos="3488690" algn="l"/>
                <a:tab pos="8025130" algn="l"/>
                <a:tab pos="9951720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Model cellular spatial interactions using graph representations to capture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micro-architecture.</a:t>
            </a:r>
          </a:p>
          <a:p>
            <a:pPr marL="355600" indent="-342900" algn="just">
              <a:lnSpc>
                <a:spcPct val="200000"/>
              </a:lnSpc>
              <a:spcBef>
                <a:spcPts val="100"/>
              </a:spcBef>
              <a:buFont typeface="+mj-lt"/>
              <a:buAutoNum type="arabicPeriod"/>
              <a:tabLst>
                <a:tab pos="299085" algn="l"/>
                <a:tab pos="2612390" algn="l"/>
                <a:tab pos="3488690" algn="l"/>
                <a:tab pos="8025130" algn="l"/>
                <a:tab pos="9951720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Learn molecular drug representations using Graph Neural Networks (GNN) from molecular structures.</a:t>
            </a:r>
          </a:p>
          <a:p>
            <a:pPr marL="355600" indent="-342900" algn="just">
              <a:lnSpc>
                <a:spcPct val="200000"/>
              </a:lnSpc>
              <a:spcBef>
                <a:spcPts val="100"/>
              </a:spcBef>
              <a:buFont typeface="+mj-lt"/>
              <a:buAutoNum type="arabicPeriod"/>
              <a:tabLst>
                <a:tab pos="299085" algn="l"/>
                <a:tab pos="2612390" algn="l"/>
                <a:tab pos="3488690" algn="l"/>
                <a:tab pos="8025130" algn="l"/>
                <a:tab pos="9951720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Integrate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phenotype with pharmacological knowledge for biologically meaningful analysis.</a:t>
            </a:r>
          </a:p>
          <a:p>
            <a:pPr marL="355600" indent="-342900" algn="just">
              <a:lnSpc>
                <a:spcPct val="200000"/>
              </a:lnSpc>
              <a:spcBef>
                <a:spcPts val="100"/>
              </a:spcBef>
              <a:buFont typeface="+mj-lt"/>
              <a:buAutoNum type="arabicPeriod"/>
              <a:tabLst>
                <a:tab pos="299085" algn="l"/>
                <a:tab pos="2612390" algn="l"/>
                <a:tab pos="3488690" algn="l"/>
                <a:tab pos="8025130" algn="l"/>
                <a:tab pos="9951720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Generate subtype-guided drug recommendations based on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phenotype and drug sensitivity patterns.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435C3DE-82D7-C898-6501-CEEF5635E878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0268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95"/>
              </a:spcBef>
            </a:pPr>
            <a:r>
              <a:rPr dirty="0"/>
              <a:t>EXISTING</a:t>
            </a:r>
            <a:r>
              <a:rPr spc="-13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134" y="1384935"/>
            <a:ext cx="10019666" cy="431736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Most existing cancer analysis systems focus mainly on </a:t>
            </a:r>
            <a:r>
              <a:rPr lang="en-US" altLang="en-GB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 detection and classification using histopathology images.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Traditional drug discovery methods rely heavily on laboratory experiments and clinical trials, making the process time-consuming and expensive.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Many AI-based medical systems analyze </a:t>
            </a:r>
            <a:r>
              <a:rPr lang="en-US" altLang="en-GB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 images only for diagnosis, without linking </a:t>
            </a:r>
            <a:r>
              <a:rPr lang="en-US" altLang="en-GB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 characteristics to treatment strategies.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Drug prediction approaches often depend on molecular data alone, without considering </a:t>
            </a:r>
            <a:r>
              <a:rPr lang="en-US" altLang="en-GB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 morphology or tissue structure.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Limited integration exists between </a:t>
            </a:r>
            <a:r>
              <a:rPr lang="en-US" altLang="en-GB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 image analysis and pharmacological drug response data.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B255B8C5-EE3E-5274-05E2-BEF3893F50C7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2899" y="1545463"/>
            <a:ext cx="9086901" cy="3816429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proposed system introduces a Subtype-Guided Drug Recommendation Framework that integrates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phenotype modeling with molecular drug intelligence.</a:t>
            </a:r>
          </a:p>
          <a:p>
            <a:pPr marL="298450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Histopathology images are analyzed to extract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morphological features and cellular characteristics using computational pathology techniques.</a:t>
            </a:r>
          </a:p>
          <a:p>
            <a:pPr marL="298450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Cellular spatial interactions are modeled as graphs, and Graph Neural Networks are used to learn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behavior patterns.</a:t>
            </a:r>
          </a:p>
          <a:p>
            <a:pPr marL="298450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Drug molecules are represented as molecular graphs and encoded using a molecular GNN to learn meaningful drug embeddings.</a:t>
            </a:r>
          </a:p>
          <a:p>
            <a:pPr marL="298450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phenotype information is combined with pharmacogenomic drug sensitivity data to generate subtype-guided drug recommendations.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23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PROPOSED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197B048B-F7A9-1F71-F74F-63EA79B32FE4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084" y="198831"/>
            <a:ext cx="4548886" cy="621665"/>
          </a:xfrm>
          <a:prstGeom prst="rect">
            <a:avLst/>
          </a:prstGeom>
        </p:spPr>
        <p:txBody>
          <a:bodyPr vert="horz" wrap="square" lIns="0" tIns="252907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95"/>
              </a:spcBef>
            </a:pPr>
            <a:r>
              <a:rPr lang="en-US" altLang="en-GB" sz="2400" spc="-10" dirty="0"/>
              <a:t>Project Plan Breakdown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61" y="1229157"/>
            <a:ext cx="5510530" cy="48006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Phase 1:Data Collection &amp; Environment Setup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sz="1600" dirty="0"/>
              <a:t>Identify and collect relevant datasets for </a:t>
            </a:r>
            <a:r>
              <a:rPr lang="en-US" sz="1600" dirty="0" err="1"/>
              <a:t>tumour</a:t>
            </a:r>
            <a:r>
              <a:rPr lang="en-US" sz="1600" dirty="0"/>
              <a:t> analysis and drug modeling:</a:t>
            </a:r>
            <a:endParaRPr lang="en-US" alt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scenarios</a:t>
            </a:r>
            <a:r>
              <a:rPr lang="en-I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endParaRPr lang="en-US" alt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endParaRPr lang="en-US" alt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78004" y="1439517"/>
            <a:ext cx="5658195" cy="42706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Phase 2: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Phase 2: Image Preprocessing &amp; Nuclei Detection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Prepare histopathology images to highlight cellular structures for analysis.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Scenarios: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Convert images to grayscale and apply noise reduction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Perform threshold segmentation to isolate nuclei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Apply morphological operations for image cleaning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Detect cell contours and structural patterns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Prepare processed images for feature extraction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07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66485" y="1572260"/>
            <a:ext cx="5715" cy="3990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object 6">
            <a:extLst>
              <a:ext uri="{FF2B5EF4-FFF2-40B4-BE49-F238E27FC236}">
                <a16:creationId xmlns:a16="http://schemas.microsoft.com/office/drawing/2014/main" id="{28680248-5B88-0BA2-8C80-EC3480749DB1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7284CAC-D3DF-AAD2-313C-BBAA392B74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7861" y="2743200"/>
            <a:ext cx="5017772" cy="3001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histopathology images from the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BreaKHis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Obtain molecular drug bioactivity data from the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ChEMBL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Acquire drug sensitivity data from the GDSC dataset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development environment and AI/ML libraries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datasets for model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084" y="198831"/>
            <a:ext cx="4548886" cy="621665"/>
          </a:xfrm>
          <a:prstGeom prst="rect">
            <a:avLst/>
          </a:prstGeom>
        </p:spPr>
        <p:txBody>
          <a:bodyPr vert="horz" wrap="square" lIns="0" tIns="252907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95"/>
              </a:spcBef>
            </a:pPr>
            <a:r>
              <a:rPr lang="en-US" altLang="en-GB" sz="2400" spc="-10" dirty="0"/>
              <a:t>Project Plan Breakdown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7129" y="1778242"/>
            <a:ext cx="5596253" cy="35331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Phase 3: CNN Feature Extraction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sz="1600" dirty="0"/>
              <a:t>Extract deep visual features from histopathology images.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Scenarios: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Implement a CNN model for tissue feature extraction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Train the network on histopathology images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Extract high-level texture and morphology features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Generate feature embeddings for </a:t>
            </a:r>
            <a:r>
              <a:rPr lang="en-US" alt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Store extracted features for multimodal fusion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255797" y="1582994"/>
            <a:ext cx="5613398" cy="4371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/>
              <a:t>Phase 4: Cellular Graph Construction &amp; GNN Learning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</a:pPr>
            <a:r>
              <a:rPr lang="en-US" sz="1600" dirty="0"/>
              <a:t>Model spatial relationships between cells using graph structures: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</a:pPr>
            <a:r>
              <a:rPr lang="en-US" sz="1600" b="1" dirty="0"/>
              <a:t>Scenarios: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Represent detected cells as nodes in a graph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Construct edges based on spatial proximity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Train a Graph Neural Network (GNN) to learn cell interactions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Extract graph embeddings representing </a:t>
            </a:r>
            <a:r>
              <a:rPr lang="en-US" sz="1600" dirty="0" err="1"/>
              <a:t>tumour</a:t>
            </a:r>
            <a:r>
              <a:rPr lang="en-US" sz="1600" dirty="0"/>
              <a:t> structure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Capture spatial cellular </a:t>
            </a:r>
            <a:r>
              <a:rPr lang="en-US" sz="1600" dirty="0" err="1"/>
              <a:t>behaviour</a:t>
            </a:r>
            <a:r>
              <a:rPr lang="en-US" sz="1600" dirty="0"/>
              <a:t> patterns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08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918200" y="1600200"/>
            <a:ext cx="5715" cy="3990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object 6">
            <a:extLst>
              <a:ext uri="{FF2B5EF4-FFF2-40B4-BE49-F238E27FC236}">
                <a16:creationId xmlns:a16="http://schemas.microsoft.com/office/drawing/2014/main" id="{6F652B22-B51A-2193-D752-A6411847857A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084" y="198831"/>
            <a:ext cx="4548886" cy="621665"/>
          </a:xfrm>
          <a:prstGeom prst="rect">
            <a:avLst/>
          </a:prstGeom>
        </p:spPr>
        <p:txBody>
          <a:bodyPr vert="horz" wrap="square" lIns="0" tIns="252907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95"/>
              </a:spcBef>
            </a:pPr>
            <a:r>
              <a:rPr lang="en-US" altLang="en-GB" sz="2400" spc="-10" dirty="0"/>
              <a:t>Project Plan Breakdown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084" y="1443990"/>
            <a:ext cx="5488936" cy="45427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Phase 5: Multimodal Feature Fusion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sz="1600" dirty="0"/>
              <a:t>Combine image and graph features to capture </a:t>
            </a:r>
            <a:r>
              <a:rPr lang="en-US" sz="1600" dirty="0" err="1"/>
              <a:t>tumour</a:t>
            </a:r>
            <a:r>
              <a:rPr lang="en-US" sz="1600" dirty="0"/>
              <a:t> </a:t>
            </a:r>
            <a:r>
              <a:rPr lang="en-US" sz="1600" dirty="0" err="1"/>
              <a:t>behaviour</a:t>
            </a:r>
            <a:r>
              <a:rPr lang="en-US" sz="1600" dirty="0"/>
              <a:t>.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sz="1600" b="1" dirty="0"/>
              <a:t>Scenarios: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Merge CNN image features with GNN embeddings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feature scaling and normalization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Generate a fused feature representation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fused features for </a:t>
            </a:r>
            <a:r>
              <a:rPr lang="en-US" sz="1600" dirty="0" err="1"/>
              <a:t>tumour</a:t>
            </a:r>
            <a:r>
              <a:rPr lang="en-US" sz="1600" dirty="0"/>
              <a:t> phenotype analysis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Prepare data for </a:t>
            </a:r>
            <a:r>
              <a:rPr lang="en-US" sz="1600" dirty="0" err="1"/>
              <a:t>tumour</a:t>
            </a:r>
            <a:r>
              <a:rPr lang="en-US" sz="1600" dirty="0"/>
              <a:t> subtype prediction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268087" y="1428627"/>
            <a:ext cx="5490843" cy="4523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/>
              <a:t>Phase 6: </a:t>
            </a:r>
            <a:r>
              <a:rPr lang="en-US" altLang="en-GB" sz="1600" b="1" dirty="0" err="1"/>
              <a:t>Tumour</a:t>
            </a:r>
            <a:r>
              <a:rPr lang="en-US" altLang="en-GB" sz="1600" b="1" dirty="0"/>
              <a:t> Phenotype Prediction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dirty="0"/>
              <a:t>Predict </a:t>
            </a:r>
            <a:r>
              <a:rPr lang="en-US" altLang="en-GB" sz="1600" dirty="0" err="1"/>
              <a:t>tumour</a:t>
            </a:r>
            <a:r>
              <a:rPr lang="en-US" altLang="en-GB" sz="1600" dirty="0"/>
              <a:t> </a:t>
            </a:r>
            <a:r>
              <a:rPr lang="en-US" altLang="en-GB" sz="1600" dirty="0" err="1"/>
              <a:t>behaviour</a:t>
            </a:r>
            <a:r>
              <a:rPr lang="en-US" altLang="en-GB" sz="1600" dirty="0"/>
              <a:t> based on fused features.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/>
              <a:t>Scenarios: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Apply clustering techniques to classify </a:t>
            </a:r>
            <a:r>
              <a:rPr lang="en-US" altLang="en-GB" sz="1600" dirty="0" err="1"/>
              <a:t>tumour</a:t>
            </a:r>
            <a:r>
              <a:rPr lang="en-US" altLang="en-GB" sz="1600" dirty="0"/>
              <a:t> patterns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Categorize </a:t>
            </a:r>
            <a:r>
              <a:rPr lang="en-US" altLang="en-GB" sz="1600" dirty="0" err="1"/>
              <a:t>tumour</a:t>
            </a:r>
            <a:r>
              <a:rPr lang="en-US" altLang="en-GB" sz="1600" dirty="0"/>
              <a:t> </a:t>
            </a:r>
            <a:r>
              <a:rPr lang="en-US" altLang="en-GB" sz="1600" dirty="0" err="1"/>
              <a:t>behaviour</a:t>
            </a:r>
            <a:r>
              <a:rPr lang="en-US" altLang="en-GB" sz="1600" dirty="0"/>
              <a:t> into phenotype groups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Identify patterns such as indolent, moderate, or aggressive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Analyze </a:t>
            </a:r>
            <a:r>
              <a:rPr lang="en-US" altLang="en-GB" sz="1600" dirty="0" err="1"/>
              <a:t>tumour</a:t>
            </a:r>
            <a:r>
              <a:rPr lang="en-US" altLang="en-GB" sz="1600" dirty="0"/>
              <a:t> morphological characteristics</a:t>
            </a:r>
          </a:p>
          <a:p>
            <a:pPr marL="2857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Generate predicted </a:t>
            </a:r>
            <a:r>
              <a:rPr lang="en-US" altLang="en-GB" sz="1600" dirty="0" err="1"/>
              <a:t>tumour</a:t>
            </a:r>
            <a:r>
              <a:rPr lang="en-US" altLang="en-GB" sz="1600" dirty="0"/>
              <a:t> phenotype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09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918200" y="1600200"/>
            <a:ext cx="5715" cy="3990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object 6">
            <a:extLst>
              <a:ext uri="{FF2B5EF4-FFF2-40B4-BE49-F238E27FC236}">
                <a16:creationId xmlns:a16="http://schemas.microsoft.com/office/drawing/2014/main" id="{AAE60720-99D5-D7B4-B592-909DFEFC155F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8638772-8318-C840-7FF3-F6C1B1FE8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77470"/>
            <a:ext cx="4548886" cy="621665"/>
          </a:xfrm>
          <a:prstGeom prst="rect">
            <a:avLst/>
          </a:prstGeom>
        </p:spPr>
        <p:txBody>
          <a:bodyPr vert="horz" wrap="square" lIns="0" tIns="252907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95"/>
              </a:spcBef>
            </a:pPr>
            <a:r>
              <a:rPr lang="en-US" altLang="en-GB" sz="2400" spc="-10" dirty="0"/>
              <a:t>Project Plan Breakdown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4358EA5-1D35-E413-3DB8-0AA6E6613612}"/>
              </a:ext>
            </a:extLst>
          </p:cNvPr>
          <p:cNvSpPr txBox="1"/>
          <p:nvPr/>
        </p:nvSpPr>
        <p:spPr>
          <a:xfrm>
            <a:off x="275129" y="731090"/>
            <a:ext cx="5488936" cy="31280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Phase 7: Explainable AI Integration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Provide visual explanations for model predictions.</a:t>
            </a: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Scenarios: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Implement Grad-CAM for image-based explanations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Apply SHAP to analyze feature importance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Highlight tissue regions influencing predictions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Interpret contributions of CNN and GNN features</a:t>
            </a:r>
          </a:p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Improve transparency of the AI model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DA9F5064-ACC7-D226-55C9-A9D43CB5FD12}"/>
              </a:ext>
            </a:extLst>
          </p:cNvPr>
          <p:cNvSpPr txBox="1"/>
          <p:nvPr/>
        </p:nvSpPr>
        <p:spPr>
          <a:xfrm>
            <a:off x="6043637" y="2680689"/>
            <a:ext cx="5490843" cy="1235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  <a:spcBef>
                <a:spcPts val="100"/>
              </a:spcBef>
            </a:pPr>
            <a:r>
              <a:rPr lang="en-US" altLang="en-GB" sz="1600" b="1" dirty="0"/>
              <a:t>Phase 9: Web Application &amp; System Integration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</a:pPr>
            <a:r>
              <a:rPr lang="en-US" sz="1600" dirty="0"/>
              <a:t>Deploy the system through an interactive interface. </a:t>
            </a:r>
            <a:r>
              <a:rPr lang="en-US" altLang="en-GB" sz="1600" b="1" dirty="0"/>
              <a:t>Scenarios: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7D28912E-D396-3069-A81F-19EDEBCE693E}"/>
              </a:ext>
            </a:extLst>
          </p:cNvPr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C4AE85-DD8C-7BB3-1D74-B362855ED563}"/>
              </a:ext>
            </a:extLst>
          </p:cNvPr>
          <p:cNvCxnSpPr/>
          <p:nvPr/>
        </p:nvCxnSpPr>
        <p:spPr>
          <a:xfrm>
            <a:off x="5918200" y="1600200"/>
            <a:ext cx="5715" cy="3990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object 6">
            <a:extLst>
              <a:ext uri="{FF2B5EF4-FFF2-40B4-BE49-F238E27FC236}">
                <a16:creationId xmlns:a16="http://schemas.microsoft.com/office/drawing/2014/main" id="{68D6A927-FA6F-A3F8-B356-8486E51FA824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EB0A7-090A-D839-76E6-ADCA24948895}"/>
              </a:ext>
            </a:extLst>
          </p:cNvPr>
          <p:cNvSpPr txBox="1"/>
          <p:nvPr/>
        </p:nvSpPr>
        <p:spPr>
          <a:xfrm>
            <a:off x="257178" y="3911590"/>
            <a:ext cx="5501172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600" b="1" dirty="0"/>
              <a:t>Phase 8: Drug Recommendation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600" dirty="0" err="1"/>
              <a:t>ModuleRecommend</a:t>
            </a:r>
            <a:r>
              <a:rPr lang="en-IN" sz="1600" dirty="0"/>
              <a:t> candidate drugs based on tumour phenotype.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600" dirty="0"/>
              <a:t>Scenarios: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Map tumour phenotype to drug response datasets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Use IC50 values and compatibility scores for ranking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A6E037-EB04-19ED-CBE8-1A0AE3B12809}"/>
              </a:ext>
            </a:extLst>
          </p:cNvPr>
          <p:cNvSpPr txBox="1"/>
          <p:nvPr/>
        </p:nvSpPr>
        <p:spPr>
          <a:xfrm>
            <a:off x="6186057" y="1371600"/>
            <a:ext cx="5416008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Generate a list of candidate therapeutic drugs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Rank drugs based on predicted effectiveness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Visualize drug effectiveness results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4E84814A-C568-7BAD-7EF9-284917CCC96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43637" y="3855206"/>
            <a:ext cx="5270834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-based web application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histopathology image upload functionality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preprocessing steps and model predictions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explainable AI visualizations and drug rankings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all modules into a complete system</a:t>
            </a:r>
          </a:p>
        </p:txBody>
      </p:sp>
    </p:spTree>
    <p:extLst>
      <p:ext uri="{BB962C8B-B14F-4D97-AF65-F5344CB8AC3E}">
        <p14:creationId xmlns:p14="http://schemas.microsoft.com/office/powerpoint/2010/main" val="132703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543" y="208534"/>
            <a:ext cx="4589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ARCHITECTURE</a:t>
            </a:r>
            <a:r>
              <a:rPr spc="-85" dirty="0"/>
              <a:t> </a:t>
            </a:r>
            <a:r>
              <a:rPr spc="-10" dirty="0"/>
              <a:t>DIAGRAM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B3D1B8E4-9EC1-D0C9-2126-80DCC52DCB6A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3E61C8-6CC3-D269-4CE7-F8CC09FA3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09600"/>
            <a:ext cx="11963400" cy="57104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490" y="407035"/>
            <a:ext cx="29749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367" y="1104900"/>
            <a:ext cx="10438487" cy="4648200"/>
          </a:xfrm>
          <a:prstGeom prst="rect">
            <a:avLst/>
          </a:prstGeom>
        </p:spPr>
        <p:txBody>
          <a:bodyPr vert="horz" wrap="square" lIns="0" tIns="152400" rIns="0" bIns="0" rtlCol="0">
            <a:noAutofit/>
          </a:bodyPr>
          <a:lstStyle/>
          <a:p>
            <a:pPr marL="12700" indent="0" algn="just">
              <a:lnSpc>
                <a:spcPct val="150000"/>
              </a:lnSpc>
              <a:spcBef>
                <a:spcPts val="1200"/>
              </a:spcBef>
              <a:buNone/>
              <a:tabLst>
                <a:tab pos="299085" algn="l"/>
              </a:tabLst>
            </a:pPr>
            <a:r>
              <a:rPr lang="en-US" b="1" dirty="0"/>
              <a:t>Module I: Image Processing Module</a:t>
            </a:r>
          </a:p>
          <a:p>
            <a:pPr marL="12700" indent="0" algn="just">
              <a:lnSpc>
                <a:spcPct val="150000"/>
              </a:lnSpc>
              <a:spcBef>
                <a:spcPts val="1200"/>
              </a:spcBef>
              <a:buNone/>
              <a:tabLst>
                <a:tab pos="299085" algn="l"/>
              </a:tabLst>
            </a:pPr>
            <a:r>
              <a:rPr lang="en-US" dirty="0"/>
              <a:t>Processes histopathology images to prepare them for analysis. It performs image resizing, grayscale conversion, noise reduction, and segmentation to identify cellular structures within </a:t>
            </a:r>
            <a:r>
              <a:rPr lang="en-US" dirty="0" err="1"/>
              <a:t>tumour</a:t>
            </a:r>
            <a:r>
              <a:rPr lang="en-US" dirty="0"/>
              <a:t> tissue.</a:t>
            </a:r>
          </a:p>
          <a:p>
            <a:pPr marL="12700" indent="0" algn="just">
              <a:lnSpc>
                <a:spcPct val="150000"/>
              </a:lnSpc>
              <a:spcBef>
                <a:spcPts val="1200"/>
              </a:spcBef>
              <a:buNone/>
              <a:tabLst>
                <a:tab pos="299085" algn="l"/>
              </a:tabLst>
            </a:pPr>
            <a:r>
              <a:rPr lang="en-US" b="1" dirty="0"/>
              <a:t>Module II: Nuclei Detection &amp; Feature Extraction Module</a:t>
            </a:r>
          </a:p>
          <a:p>
            <a:pPr marL="12700" indent="0" algn="just">
              <a:lnSpc>
                <a:spcPct val="150000"/>
              </a:lnSpc>
              <a:spcBef>
                <a:spcPts val="1200"/>
              </a:spcBef>
              <a:buNone/>
              <a:tabLst>
                <a:tab pos="299085" algn="l"/>
              </a:tabLst>
            </a:pPr>
            <a:r>
              <a:rPr lang="en-US" dirty="0"/>
              <a:t>Detects individual cell nuclei from histopathology images using contour detection and morphological operations. Extracts quantitative cellular features such as nuclear area, perimeter, and cell density.</a:t>
            </a:r>
          </a:p>
          <a:p>
            <a:pPr marL="12700" indent="0" algn="just">
              <a:lnSpc>
                <a:spcPct val="150000"/>
              </a:lnSpc>
              <a:spcBef>
                <a:spcPts val="1200"/>
              </a:spcBef>
              <a:buNone/>
              <a:tabLst>
                <a:tab pos="299085" algn="l"/>
              </a:tabLst>
            </a:pPr>
            <a:r>
              <a:rPr lang="en-US" b="1" dirty="0"/>
              <a:t>Module III: Cellular Graph Construction Module</a:t>
            </a:r>
          </a:p>
          <a:p>
            <a:pPr marL="12700" indent="0" algn="just">
              <a:lnSpc>
                <a:spcPct val="150000"/>
              </a:lnSpc>
              <a:spcBef>
                <a:spcPts val="1200"/>
              </a:spcBef>
              <a:buNone/>
              <a:tabLst>
                <a:tab pos="299085" algn="l"/>
              </a:tabLst>
            </a:pPr>
            <a:r>
              <a:rPr lang="en-US" dirty="0"/>
              <a:t>Constructs cellular interaction graphs where each nucleus represents a node. Edges are created based on spatial proximity between nuclei to capture </a:t>
            </a:r>
            <a:r>
              <a:rPr lang="en-US" dirty="0" err="1"/>
              <a:t>tumour</a:t>
            </a:r>
            <a:r>
              <a:rPr lang="en-US" dirty="0"/>
              <a:t> micro-architecture.</a:t>
            </a:r>
            <a:endParaRPr lang="en-US" alt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39794022-54EE-F58C-882C-D0F4EFB9EEE3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490" y="407035"/>
            <a:ext cx="29749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2454" y="914401"/>
            <a:ext cx="9694546" cy="4923790"/>
          </a:xfrm>
          <a:prstGeom prst="rect">
            <a:avLst/>
          </a:prstGeom>
        </p:spPr>
        <p:txBody>
          <a:bodyPr vert="horz" wrap="square" lIns="0" tIns="15240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Module IV: Tumour Representation Learning Module</a:t>
            </a:r>
            <a:br>
              <a:rPr lang="en-IN" dirty="0"/>
            </a:br>
            <a:r>
              <a:rPr lang="en-IN" dirty="0"/>
              <a:t>Uses deep learning models to learn tumour characteristics. CNN models extract morphological features from images, while Graph Neural Networks </a:t>
            </a:r>
            <a:r>
              <a:rPr lang="en-IN" dirty="0" err="1"/>
              <a:t>analyze</a:t>
            </a:r>
            <a:r>
              <a:rPr lang="en-IN" dirty="0"/>
              <a:t> cellular graphs to capture spatial interactions.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Module V: Molecular Intelligence Module</a:t>
            </a:r>
            <a:br>
              <a:rPr lang="en-IN" dirty="0"/>
            </a:br>
            <a:r>
              <a:rPr lang="en-IN" dirty="0"/>
              <a:t>Processes molecular drug data from the </a:t>
            </a:r>
            <a:r>
              <a:rPr lang="en-IN" dirty="0" err="1"/>
              <a:t>ChEMBL</a:t>
            </a:r>
            <a:r>
              <a:rPr lang="en-IN" dirty="0"/>
              <a:t> database. Drug molecules are converted into molecular graphs and encoded using a molecular Graph Neural Network to learn drug embeddings.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Module VI: Tumour Phenotype </a:t>
            </a:r>
            <a:r>
              <a:rPr lang="en-IN" b="1" dirty="0" err="1"/>
              <a:t>Modeling</a:t>
            </a:r>
            <a:r>
              <a:rPr lang="en-IN" b="1" dirty="0"/>
              <a:t> Module</a:t>
            </a:r>
            <a:br>
              <a:rPr lang="en-IN" dirty="0"/>
            </a:br>
            <a:r>
              <a:rPr lang="en-IN" dirty="0"/>
              <a:t>Combines CNN features, cellular graph embeddings, and nuclei metrics to generate tumour phenotype vectors that represent tumour </a:t>
            </a:r>
            <a:r>
              <a:rPr lang="en-IN" dirty="0" err="1"/>
              <a:t>behavior</a:t>
            </a:r>
            <a:r>
              <a:rPr lang="en-IN" dirty="0"/>
              <a:t> patterns.</a:t>
            </a:r>
          </a:p>
          <a:p>
            <a:pPr marL="12700" indent="0">
              <a:lnSpc>
                <a:spcPct val="200000"/>
              </a:lnSpc>
              <a:spcBef>
                <a:spcPts val="1200"/>
              </a:spcBef>
              <a:buNone/>
              <a:tabLst>
                <a:tab pos="299085" algn="l"/>
              </a:tabLst>
            </a:pPr>
            <a:endParaRPr lang="en-US" alt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52F52A4A-8F70-C36F-2AA1-8CB1859E5F67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490" y="407035"/>
            <a:ext cx="29749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490" y="1315199"/>
            <a:ext cx="9465945" cy="4716145"/>
          </a:xfrm>
          <a:prstGeom prst="rect">
            <a:avLst/>
          </a:prstGeom>
        </p:spPr>
        <p:txBody>
          <a:bodyPr vert="horz" wrap="square" lIns="0" tIns="15240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Module VII: Subtype Inference Module</a:t>
            </a:r>
            <a:br>
              <a:rPr lang="en-IN" dirty="0"/>
            </a:br>
            <a:r>
              <a:rPr lang="en-IN" dirty="0"/>
              <a:t>Uses clustering techniques to group tumours into phenotype-based subtype categories such as indolent-like, moderate-like, or aggressive-like.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Module VIII: Drug Recommendation Module</a:t>
            </a:r>
            <a:br>
              <a:rPr lang="en-IN" dirty="0"/>
            </a:br>
            <a:r>
              <a:rPr lang="en-IN" dirty="0"/>
              <a:t>Maps tumour subtype information to drug sensitivity patterns derived from the GDSC dataset and generates a ranked list of potential therapeutic drugs.</a:t>
            </a:r>
          </a:p>
          <a:p>
            <a:pPr marL="12700" indent="0">
              <a:lnSpc>
                <a:spcPct val="150000"/>
              </a:lnSpc>
              <a:spcBef>
                <a:spcPts val="1200"/>
              </a:spcBef>
              <a:buNone/>
              <a:tabLst>
                <a:tab pos="299085" algn="l"/>
              </a:tabLst>
            </a:pPr>
            <a:endParaRPr lang="en-US" alt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445177EB-BA90-791F-8EDD-7E30086EE565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3455" y="208280"/>
            <a:ext cx="794385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LITERATURE</a:t>
            </a:r>
            <a:r>
              <a:rPr spc="-105" dirty="0"/>
              <a:t> </a:t>
            </a:r>
            <a:r>
              <a:rPr spc="-10" dirty="0"/>
              <a:t>SURVEY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15</a:t>
            </a: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7595138"/>
              </p:ext>
            </p:extLst>
          </p:nvPr>
        </p:nvGraphicFramePr>
        <p:xfrm>
          <a:off x="381000" y="685801"/>
          <a:ext cx="11365865" cy="5410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3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3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5846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Title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Year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Author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Problem addressed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Implementation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Limitation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Advantage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038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TARSL: Triple-Attention Cross-Network Representation Learning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 err="1">
                          <a:latin typeface="Arial" panose="020B0604020202020204"/>
                          <a:ea typeface="SimSun" panose="02010600030101010101" pitchFamily="2" charset="-122"/>
                        </a:rPr>
                        <a:t>Jinxin</a:t>
                      </a: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 Li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Identifying synthetic lethal gene pairs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Triple-attention deep learning on biological networks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High computational cost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Better gene interaction prediction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30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Histopathology Image Analysis for Cancer Classification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 err="1">
                          <a:latin typeface="Arial" panose="020B0604020202020204"/>
                          <a:ea typeface="SimSun" panose="02010600030101010101" pitchFamily="2" charset="-122"/>
                        </a:rPr>
                        <a:t>Spanhol</a:t>
                      </a: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Manual </a:t>
                      </a:r>
                      <a:r>
                        <a:rPr lang="en-US" altLang="zh-CN" sz="1400" dirty="0" err="1">
                          <a:latin typeface="Arial" panose="020B0604020202020204"/>
                          <a:ea typeface="SimSun" panose="02010600030101010101" pitchFamily="2" charset="-122"/>
                        </a:rPr>
                        <a:t>tumour</a:t>
                      </a: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 subtype detection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CNN-based tissue classification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Limited interpretability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Accurate </a:t>
                      </a:r>
                      <a:r>
                        <a:rPr lang="en-US" altLang="zh-CN" sz="1400" dirty="0" err="1">
                          <a:latin typeface="Arial" panose="020B0604020202020204"/>
                          <a:ea typeface="SimSun" panose="02010600030101010101" pitchFamily="2" charset="-122"/>
                        </a:rPr>
                        <a:t>tumour</a:t>
                      </a: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 detection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832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Graph Neural Networks for Drug-Target Interaction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Zitnik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Predicting drug-target relationships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GNN using molecular graphs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Requires large datasets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Captures structural drug relations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0608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Multimodal Deep Learning for Cancer Drug Discovery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Huang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Integrating heterogeneous biomedical data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Multimodal feature fusion model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Complex training process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Improved prediction performance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Explainable AI for Medical Image Analysis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Selvaraju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Lack of transparency in deep models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Grad-CAM visualization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Coarse explanation detail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Improves model interpretability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A4C2BD29-3FFA-B9B7-51F5-A4D8AB59E324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3455" y="208280"/>
            <a:ext cx="779145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LITERATURE</a:t>
            </a:r>
            <a:r>
              <a:rPr spc="-105" dirty="0"/>
              <a:t> </a:t>
            </a:r>
            <a:r>
              <a:rPr spc="-10" dirty="0"/>
              <a:t>SURVEY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16</a:t>
            </a:r>
          </a:p>
        </p:txBody>
      </p:sp>
      <p:graphicFrame>
        <p:nvGraphicFramePr>
          <p:cNvPr id="12" name="Table 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1422412"/>
              </p:ext>
            </p:extLst>
          </p:nvPr>
        </p:nvGraphicFramePr>
        <p:xfrm>
          <a:off x="623570" y="866141"/>
          <a:ext cx="11072495" cy="531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5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7941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Title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Year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Author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Problem addressed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Implementation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Limitation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</a:rPr>
                        <a:t>Advantage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852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Deep Learning for Histopathology Cancer Diagnosis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Bera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Manual </a:t>
                      </a:r>
                      <a:r>
                        <a:rPr lang="en-US" altLang="zh-CN" sz="1400" dirty="0" err="1">
                          <a:latin typeface="Arial" panose="020B0604020202020204"/>
                          <a:ea typeface="SimSun" panose="02010600030101010101" pitchFamily="2" charset="-122"/>
                        </a:rPr>
                        <a:t>tumour</a:t>
                      </a: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 grading from pathology slides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CNN-based histopathology analysis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Requires annotated datasets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Automated cancer detection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852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Graph Neural Networks for Drug Response Prediction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Wang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Predicting drug effectiveness on cancer cells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GNN using molecular and cell graphs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High computational complexity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Captures drug–cell interactions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13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Multimodal Learning for Precision Oncology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Chen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Integrating clinical, genomic, and imaging data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Multimodal deep learning fusion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Data heterogeneity challenges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Improves personalized treatment prediction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557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Explainable AI for Medical Imaging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Tjoa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Lack of transparency in medical AI models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Explainable deep learning methods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Limited interpretability depth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Enhances trust in AI diagnosis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0721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Deep Learning for Drug Discovery in Cancer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等线"/>
                        </a:rPr>
                        <a:t>2025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Zhang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Identifying effective anti-cancer drugs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Deep neural networks on biomedical datasets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Large training data required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Arial" panose="020B0604020202020204"/>
                          <a:ea typeface="SimSun" panose="02010600030101010101" pitchFamily="2" charset="-122"/>
                        </a:rPr>
                        <a:t>Accelerates drug discovery process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730A3958-95A2-3918-8C49-0CEB8D30997C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2790" y="351155"/>
            <a:ext cx="55657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ALGORITHM</a:t>
            </a:r>
            <a:r>
              <a:rPr lang="en-IN" spc="-10" dirty="0"/>
              <a:t> 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2790" y="808498"/>
            <a:ext cx="9747292" cy="5589270"/>
          </a:xfrm>
          <a:prstGeom prst="rect">
            <a:avLst/>
          </a:prstGeom>
        </p:spPr>
        <p:txBody>
          <a:bodyPr vert="horz" wrap="square" lIns="0" tIns="153035" rIns="0" bIns="0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/>
              <a:t>Algorithm 1: Data Initialization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Load required datasets including </a:t>
            </a:r>
            <a:r>
              <a:rPr lang="en-IN" sz="1600" dirty="0" err="1"/>
              <a:t>BreaKHis</a:t>
            </a:r>
            <a:r>
              <a:rPr lang="en-IN" sz="1600" dirty="0"/>
              <a:t> images, </a:t>
            </a:r>
            <a:r>
              <a:rPr lang="en-IN" sz="1600" dirty="0" err="1"/>
              <a:t>ChEMBL</a:t>
            </a:r>
            <a:r>
              <a:rPr lang="en-IN" sz="1600" dirty="0"/>
              <a:t> molecular data, and GDSC drug sensitivity records.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/>
              <a:t>Algorithm 2: Image Preprocessing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Perform resizing, grayscale conversion, smoothing, and thresholding to enhance histopathology images.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/>
              <a:t>Algorithm 3: Nuclei Detection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Detect cell nuclei using contour detection and extract features such as nuclear area and cell density</a:t>
            </a:r>
          </a:p>
          <a:p>
            <a:pPr algn="just">
              <a:lnSpc>
                <a:spcPct val="150000"/>
              </a:lnSpc>
            </a:pPr>
            <a:r>
              <a:rPr lang="en-IN" sz="1600" b="1" dirty="0"/>
              <a:t>Algorithm 4: Cellular Graph Construction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Construct a cellular interaction graph where detected nuclei represent nodes and edges represent spatial proximity relationships between cells.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/>
              <a:t>Algorithm 5: CNN-Based </a:t>
            </a:r>
            <a:r>
              <a:rPr lang="en-US" sz="1600" b="1" dirty="0" err="1"/>
              <a:t>Tumour</a:t>
            </a:r>
            <a:r>
              <a:rPr lang="en-US" sz="1600" b="1" dirty="0"/>
              <a:t> Feature Extraction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Apply a Convolutional Neural Network (CNN) to histopathology images to extract high-level texture and morphology features representing </a:t>
            </a:r>
            <a:r>
              <a:rPr lang="en-US" sz="1600" dirty="0" err="1"/>
              <a:t>tumour</a:t>
            </a:r>
            <a:r>
              <a:rPr lang="en-US" sz="1600" dirty="0"/>
              <a:t> tissue patterns.</a:t>
            </a:r>
          </a:p>
          <a:p>
            <a:pPr algn="just">
              <a:lnSpc>
                <a:spcPct val="150000"/>
              </a:lnSpc>
            </a:pPr>
            <a:endParaRPr lang="en-IN" sz="1600" dirty="0"/>
          </a:p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endParaRPr lang="en-US" alt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41476B5C-9DEB-A458-B02A-241223C9681C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2790" y="351155"/>
            <a:ext cx="55657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ALGORITHM</a:t>
            </a:r>
            <a:r>
              <a:rPr lang="en-IN" spc="-10" dirty="0"/>
              <a:t> 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314" y="725742"/>
            <a:ext cx="10438486" cy="5611394"/>
          </a:xfrm>
          <a:prstGeom prst="rect">
            <a:avLst/>
          </a:prstGeom>
        </p:spPr>
        <p:txBody>
          <a:bodyPr vert="horz" wrap="square" lIns="0" tIns="153035" rIns="0" bIns="0" rtlCol="0">
            <a:noAutofit/>
          </a:bodyPr>
          <a:lstStyle/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Algorithm 6: Graph Neural Network (GNN) Learning</a:t>
            </a:r>
          </a:p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 Graph Neural Network (GNN) on the cellular graph to learn spatial interactions between </a:t>
            </a:r>
            <a:r>
              <a:rPr lang="en-US" alt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cells and generate graph embeddings.</a:t>
            </a:r>
          </a:p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Algorithm 7: Multimodal Feature Fusion</a:t>
            </a:r>
          </a:p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Combine CNN image features and GNN graph embeddings to create a unified feature representation describing </a:t>
            </a:r>
            <a:r>
              <a:rPr lang="en-US" alt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Algorithm 8: </a:t>
            </a:r>
            <a:r>
              <a:rPr lang="en-US" altLang="en-GB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Phenotype Prediction</a:t>
            </a:r>
          </a:p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clustering techniques to classify </a:t>
            </a:r>
            <a:r>
              <a:rPr lang="en-US" alt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into phenotype groups such as indolent-like, moderate-like, or aggressive-like.</a:t>
            </a:r>
          </a:p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r>
              <a:rPr lang="en-US" alt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Algorithm 9: Drug Recommendation</a:t>
            </a:r>
          </a:p>
          <a:p>
            <a:pPr marL="12700" indent="0" algn="just">
              <a:lnSpc>
                <a:spcPct val="150000"/>
              </a:lnSpc>
              <a:spcBef>
                <a:spcPts val="1205"/>
              </a:spcBef>
              <a:buNone/>
              <a:tabLst>
                <a:tab pos="354965" algn="l"/>
              </a:tabLst>
            </a:pP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Map predicted </a:t>
            </a:r>
            <a:r>
              <a:rPr lang="en-US" alt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alt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phenotypes to GDSC drug response data and generate a ranked list of candidate drugs using compatibility scores and IC50 values.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B0FDAFF5-474C-954B-D919-1ED9F08A42C1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6540" y="208280"/>
            <a:ext cx="241363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10" dirty="0"/>
              <a:t>DEMO OUTPUT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8CAE94A3-B04F-97D8-71F8-630DED711AFB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96808C-F104-1B06-B47F-D045B2151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85800"/>
            <a:ext cx="12039600" cy="55735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8738413-8294-9A6A-C942-998EC4EE9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6540" y="208280"/>
            <a:ext cx="241363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10" dirty="0"/>
              <a:t>DEMO OUTPUT</a:t>
            </a: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3BA04BF5-8FAB-71C6-30AA-0F16D7452258}"/>
              </a:ext>
            </a:extLst>
          </p:cNvPr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40E33F4-B822-EB55-C893-D40D81B4847B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231F94-9EB2-EFA5-D96D-9E5300D32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85799"/>
            <a:ext cx="11963400" cy="560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4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6540" y="208280"/>
            <a:ext cx="241363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10" dirty="0"/>
              <a:t>DEMO OUTPUT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C94043ED-0E90-B298-0B72-77DE8E42A7C9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52ADAD-2939-5A42-6A93-D75694400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85800"/>
            <a:ext cx="11887200" cy="55577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9167E574-7F36-88F0-F497-B83408C53A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6540" y="208280"/>
            <a:ext cx="241363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10" dirty="0"/>
              <a:t>DEMO OUTPUT</a:t>
            </a: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612E294B-2FBA-3132-FBFE-4DE3CE2A576B}"/>
              </a:ext>
            </a:extLst>
          </p:cNvPr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445F502-A7EA-3540-0E46-5A3429B8B8A6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BEB991-F0A7-3294-D665-868ADD946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1"/>
            <a:ext cx="6019800" cy="51902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EC636A-1D09-A33C-D986-CDF8E6A52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62001"/>
            <a:ext cx="5638799" cy="519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84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AE7726D-8C07-5A86-B40C-E92DDDE77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6540" y="208280"/>
            <a:ext cx="241363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10" dirty="0"/>
              <a:t>DEMO OUTPUT</a:t>
            </a: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53C97C06-06AA-A8B4-7043-4C218C2FF41E}"/>
              </a:ext>
            </a:extLst>
          </p:cNvPr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D5BFDAE-CDFB-263A-C01A-FDFC1633D4C3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0E771-949B-532E-4E63-22095A7CC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85799"/>
            <a:ext cx="5791200" cy="56212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61686C-3F98-8A09-4D36-78AC4C838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85799"/>
            <a:ext cx="6019800" cy="562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86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93C9F15F-BB70-DA1E-49E4-C413F6205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6540" y="208280"/>
            <a:ext cx="241363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10" dirty="0"/>
              <a:t>DEMO OUTPUT</a:t>
            </a: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AB1342D0-9729-3D78-298F-D2446A4AA810}"/>
              </a:ext>
            </a:extLst>
          </p:cNvPr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D8B7347-959B-28BF-6FD8-09431EEA80D7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C84580-A422-6CD7-6CED-60231B76F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85801"/>
            <a:ext cx="12039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26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6540" y="208280"/>
            <a:ext cx="241363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10" dirty="0"/>
              <a:t>DEMO OUTPUT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BEFFE344-4118-E529-06F6-BB56C3A50EFB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BFA3F-A40E-7D36-5050-97E7BD61D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85801"/>
            <a:ext cx="5715000" cy="556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C46862-8479-85BA-5DEC-88BD54240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685800"/>
            <a:ext cx="6019800" cy="556260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344805"/>
            <a:ext cx="58153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959371"/>
            <a:ext cx="9525000" cy="5137785"/>
          </a:xfrm>
          <a:prstGeom prst="rect">
            <a:avLst/>
          </a:prstGeom>
        </p:spPr>
        <p:txBody>
          <a:bodyPr vert="horz" wrap="square" lIns="0" tIns="149225" rIns="0" bIns="0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err="1"/>
              <a:t>Jinxin</a:t>
            </a:r>
            <a:r>
              <a:rPr lang="en-IN" dirty="0"/>
              <a:t> Li, </a:t>
            </a:r>
            <a:r>
              <a:rPr lang="en-IN" dirty="0" err="1"/>
              <a:t>Xinguo</a:t>
            </a:r>
            <a:r>
              <a:rPr lang="en-IN" dirty="0"/>
              <a:t> Lu, </a:t>
            </a:r>
            <a:r>
              <a:rPr lang="en-IN" dirty="0" err="1"/>
              <a:t>Kaibao</a:t>
            </a:r>
            <a:r>
              <a:rPr lang="en-IN" dirty="0"/>
              <a:t> Jiang, </a:t>
            </a:r>
            <a:r>
              <a:rPr lang="en-IN" dirty="0" err="1"/>
              <a:t>Daoxu</a:t>
            </a:r>
            <a:r>
              <a:rPr lang="en-IN" dirty="0"/>
              <a:t> Tang, Bin Ning, </a:t>
            </a:r>
            <a:r>
              <a:rPr lang="en-IN" dirty="0" err="1"/>
              <a:t>Fengxu</a:t>
            </a:r>
            <a:r>
              <a:rPr lang="en-IN" dirty="0"/>
              <a:t> Sun,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“TARSL: Triple-Attention Cross-Network Representation Learning to Predict Synthetic Lethality for Anti-Cancer Drug Discovery,”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IEEE Journal of Biomedical and Health Informatics, Vol. 29, No. 3, 2025.</a:t>
            </a:r>
          </a:p>
          <a:p>
            <a:pPr algn="just">
              <a:lnSpc>
                <a:spcPct val="150000"/>
              </a:lnSpc>
            </a:pPr>
            <a:endParaRPr lang="en-IN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IN" dirty="0" err="1"/>
              <a:t>Jayachithra</a:t>
            </a:r>
            <a:r>
              <a:rPr lang="en-IN" dirty="0"/>
              <a:t> G., R. Sridevi,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“MANS-Net: Multiple Attention-Based Nuclei Segmentation Network for Pathological Images,”</a:t>
            </a:r>
            <a:br>
              <a:rPr lang="en-IN" dirty="0"/>
            </a:br>
            <a:r>
              <a:rPr lang="en-IN" dirty="0"/>
              <a:t>IEEE Access, 2023.</a:t>
            </a:r>
          </a:p>
          <a:p>
            <a:pPr algn="just">
              <a:lnSpc>
                <a:spcPct val="150000"/>
              </a:lnSpc>
            </a:pPr>
            <a:endParaRPr lang="en-IN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IN" dirty="0" err="1"/>
              <a:t>Muhao</a:t>
            </a:r>
            <a:r>
              <a:rPr lang="en-IN" dirty="0"/>
              <a:t> Xu, </a:t>
            </a:r>
            <a:r>
              <a:rPr lang="en-IN" dirty="0" err="1"/>
              <a:t>Zhenfeng</a:t>
            </a:r>
            <a:r>
              <a:rPr lang="en-IN" dirty="0"/>
              <a:t> Zhu, Yawei Zhao, Kunlun He, Qinghua Huang, Yao Zhao,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“</a:t>
            </a:r>
            <a:r>
              <a:rPr lang="en-IN" dirty="0" err="1"/>
              <a:t>RedCDR</a:t>
            </a:r>
            <a:r>
              <a:rPr lang="en-IN" dirty="0"/>
              <a:t>: Dual Relation Distillation for Cancer Drug Response Prediction,”</a:t>
            </a:r>
            <a:br>
              <a:rPr lang="en-IN" dirty="0"/>
            </a:br>
            <a:r>
              <a:rPr lang="en-IN" dirty="0"/>
              <a:t>IEEE/ACM Transactions on Computational Biology and Bioinformatics, Vol. 21, No. 5, 2024</a:t>
            </a:r>
          </a:p>
          <a:p>
            <a:pPr marL="23495" marR="19685" indent="0" algn="just">
              <a:lnSpc>
                <a:spcPct val="150000"/>
              </a:lnSpc>
              <a:spcBef>
                <a:spcPts val="120"/>
              </a:spcBef>
              <a:buFont typeface="Trebuchet MS" panose="020B0603020202020204"/>
              <a:buNone/>
              <a:tabLst>
                <a:tab pos="425450" algn="l"/>
              </a:tabLst>
            </a:pPr>
            <a:endParaRPr lang="en-IN" altLang="en-US" sz="18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95CC0FE8-7F28-FCF2-177F-20358235E5C7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964" y="948055"/>
            <a:ext cx="9707796" cy="4961890"/>
          </a:xfrm>
          <a:prstGeom prst="rect">
            <a:avLst/>
          </a:prstGeom>
        </p:spPr>
        <p:txBody>
          <a:bodyPr vert="horz" wrap="square" lIns="0" tIns="150495" rIns="0" bIns="0" rtlCol="0">
            <a:noAutofit/>
          </a:bodyPr>
          <a:lstStyle/>
          <a:p>
            <a:pPr marL="354965" marR="5080" indent="-342900" algn="just">
              <a:lnSpc>
                <a:spcPct val="200000"/>
              </a:lnSpc>
              <a:buFont typeface="+mj-lt"/>
              <a:buAutoNum type="arabicPeriod" startAt="4"/>
              <a:tabLst>
                <a:tab pos="354965" algn="l"/>
              </a:tabLst>
            </a:pP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A Zhen Zhang et </a:t>
            </a:r>
            <a:r>
              <a:rPr lang="en-US" altLang="en-GB" sz="1800" dirty="0" err="1">
                <a:latin typeface="Microsoft Sans Serif" panose="020B0604020202020204"/>
                <a:cs typeface="Microsoft Sans Serif" panose="020B0604020202020204"/>
              </a:rPr>
              <a:t>al.,“Cross</a:t>
            </a: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-Boosted Multi-Target Domain Adaptation for Multi-Modality Histopathology Image Translation and </a:t>
            </a:r>
            <a:r>
              <a:rPr lang="en-US" altLang="en-GB" sz="1800" dirty="0" err="1">
                <a:latin typeface="Microsoft Sans Serif" panose="020B0604020202020204"/>
                <a:cs typeface="Microsoft Sans Serif" panose="020B0604020202020204"/>
              </a:rPr>
              <a:t>Segmentation,”Computer</a:t>
            </a: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 Vision and Image</a:t>
            </a:r>
            <a:r>
              <a:rPr lang="en-US" altLang="en-GB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Understanding, 2024</a:t>
            </a:r>
          </a:p>
          <a:p>
            <a:pPr marL="354965" marR="5080" indent="-342900" algn="just">
              <a:lnSpc>
                <a:spcPct val="200000"/>
              </a:lnSpc>
              <a:buFont typeface="+mj-lt"/>
              <a:buAutoNum type="arabicPeriod" startAt="4"/>
              <a:tabLst>
                <a:tab pos="354965" algn="l"/>
              </a:tabLst>
            </a:pP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Chan et </a:t>
            </a:r>
            <a:r>
              <a:rPr lang="en-US" altLang="en-GB" sz="1800" dirty="0" err="1">
                <a:latin typeface="Microsoft Sans Serif" panose="020B0604020202020204"/>
                <a:cs typeface="Microsoft Sans Serif" panose="020B0604020202020204"/>
              </a:rPr>
              <a:t>al.,“Whole</a:t>
            </a: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 Slide Image Analysis with Heterogeneous Graph Representation </a:t>
            </a:r>
            <a:r>
              <a:rPr lang="en-US" altLang="en-GB" sz="1800" dirty="0" err="1">
                <a:latin typeface="Microsoft Sans Serif" panose="020B0604020202020204"/>
                <a:cs typeface="Microsoft Sans Serif" panose="020B0604020202020204"/>
              </a:rPr>
              <a:t>Learning,”Proceedings</a:t>
            </a: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 of the IEEE Conference on Computer Vision and Pattern Recognition (CVPR), 2023.</a:t>
            </a:r>
          </a:p>
          <a:p>
            <a:pPr marL="354965" marR="5080" indent="-342900" algn="just">
              <a:lnSpc>
                <a:spcPct val="200000"/>
              </a:lnSpc>
              <a:buFont typeface="+mj-lt"/>
              <a:buAutoNum type="arabicPeriod" startAt="4"/>
              <a:tabLst>
                <a:tab pos="354965" algn="l"/>
              </a:tabLst>
            </a:pP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He et </a:t>
            </a:r>
            <a:r>
              <a:rPr lang="en-US" altLang="en-GB" sz="1800" dirty="0" err="1">
                <a:latin typeface="Microsoft Sans Serif" panose="020B0604020202020204"/>
                <a:cs typeface="Microsoft Sans Serif" panose="020B0604020202020204"/>
              </a:rPr>
              <a:t>al.,“MANS</a:t>
            </a: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-Net: Multiple Attention-Based Nuclei Segmentation in Multi-Organ Digital Cancer Histopathology </a:t>
            </a:r>
            <a:r>
              <a:rPr lang="en-US" altLang="en-GB" sz="1800" dirty="0" err="1">
                <a:latin typeface="Microsoft Sans Serif" panose="020B0604020202020204"/>
                <a:cs typeface="Microsoft Sans Serif" panose="020B0604020202020204"/>
              </a:rPr>
              <a:t>Images,”IEEE</a:t>
            </a:r>
            <a:r>
              <a:rPr lang="en-US" altLang="en-GB" sz="1800" dirty="0">
                <a:latin typeface="Microsoft Sans Serif" panose="020B0604020202020204"/>
                <a:cs typeface="Microsoft Sans Serif" panose="020B0604020202020204"/>
              </a:rPr>
              <a:t> Access, 2023.</a:t>
            </a:r>
          </a:p>
          <a:p>
            <a:pPr marL="12065" marR="485775" indent="0" algn="just">
              <a:lnSpc>
                <a:spcPct val="200000"/>
              </a:lnSpc>
              <a:buNone/>
              <a:tabLst>
                <a:tab pos="354965" algn="l"/>
              </a:tabLst>
            </a:pPr>
            <a:endParaRPr sz="18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240030"/>
            <a:ext cx="62833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1353800" y="6411595"/>
            <a:ext cx="55943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C66CBE5-5611-E23C-9EF6-8D6C15A6B81D}"/>
              </a:ext>
            </a:extLst>
          </p:cNvPr>
          <p:cNvSpPr txBox="1"/>
          <p:nvPr/>
        </p:nvSpPr>
        <p:spPr>
          <a:xfrm>
            <a:off x="1655445" y="6383020"/>
            <a:ext cx="8997315" cy="3975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MULTI-MODAL AI FOR CANCER CELL BEHAVIOUR AND</a:t>
            </a:r>
            <a:b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en-US" sz="1600" b="1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DRUG DISCOVERY</a:t>
            </a:r>
            <a:endParaRPr lang="en-IN" altLang="en-US" sz="1600" b="1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2*419"/>
  <p:tag name="TABLE_ENDDRAG_RECT" val="72*72*852*41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1*408"/>
  <p:tag name="TABLE_ENDDRAG_RECT" val="49*68*871*40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2258</Words>
  <Application>Microsoft Office PowerPoint</Application>
  <PresentationFormat>Widescreen</PresentationFormat>
  <Paragraphs>311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Microsoft Sans Serif</vt:lpstr>
      <vt:lpstr>Trebuchet MS</vt:lpstr>
      <vt:lpstr>Office Theme</vt:lpstr>
      <vt:lpstr>3ʳᵈ REVIEW   MULTI-MODAL AI FOR CANCER CELL BEHAVIOUR AND DRUG DISCOVERY</vt:lpstr>
      <vt:lpstr>DESCRIPTION</vt:lpstr>
      <vt:lpstr>PROBLEM STATEMENT</vt:lpstr>
      <vt:lpstr>OBJECTIVES</vt:lpstr>
      <vt:lpstr>EXISTING SYSTEM</vt:lpstr>
      <vt:lpstr>PROPOSED SYSTEM</vt:lpstr>
      <vt:lpstr>Project Plan Breakdown</vt:lpstr>
      <vt:lpstr>Project Plan Breakdown</vt:lpstr>
      <vt:lpstr>Project Plan Breakdown</vt:lpstr>
      <vt:lpstr>Project Plan Breakdown</vt:lpstr>
      <vt:lpstr>ARCHITECTURE DIAGRAM</vt:lpstr>
      <vt:lpstr>MODULES</vt:lpstr>
      <vt:lpstr>MODULES</vt:lpstr>
      <vt:lpstr>MODULES</vt:lpstr>
      <vt:lpstr>LITERATURE SURVEY</vt:lpstr>
      <vt:lpstr>LITERATURE SURVEY</vt:lpstr>
      <vt:lpstr>ALGORITHM DESCRIPTION</vt:lpstr>
      <vt:lpstr>ALGORITHM DESCRIPTION</vt:lpstr>
      <vt:lpstr>DEMO OUTPUT</vt:lpstr>
      <vt:lpstr>DEMO OUTPUT</vt:lpstr>
      <vt:lpstr>DEMO OUTPUT</vt:lpstr>
      <vt:lpstr>DEMO OUTPUT</vt:lpstr>
      <vt:lpstr>DEMO OUTPUT</vt:lpstr>
      <vt:lpstr>DEMO OUTPUT</vt:lpstr>
      <vt:lpstr>DEMO OUTPUT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BLOCKCHAIN-INTEGRATED ELLIPTIC CURVE CRYPTOGRAPHY FOR SECURE DATA SHARING</dc:title>
  <dc:creator>AAFIYAH TASNEEM</dc:creator>
  <cp:lastModifiedBy>FAATHIMA NAWFA</cp:lastModifiedBy>
  <cp:revision>70</cp:revision>
  <dcterms:created xsi:type="dcterms:W3CDTF">2026-01-10T05:44:00Z</dcterms:created>
  <dcterms:modified xsi:type="dcterms:W3CDTF">2026-04-24T04:40:24Z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2026-01-10T03:30:00Z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2026-01-11T03:30:00Z</vt:filetime>
  </property>
  <property fmtid="{D5CDD505-2E9C-101B-9397-08002B2CF9AE}" pid="5" name="Producer">
    <vt:lpwstr>www.ilovepdf.com</vt:lpwstr>
  </property>
  <property fmtid="{D5CDD505-2E9C-101B-9397-08002B2CF9AE}" pid="6" name="ICV">
    <vt:lpwstr>6FDD4ADCC3BD44E7B4FC521BD688D435_13</vt:lpwstr>
  </property>
  <property fmtid="{D5CDD505-2E9C-101B-9397-08002B2CF9AE}" pid="7" name="KSOProductBuildVer">
    <vt:lpwstr>2057-12.2.0.23197</vt:lpwstr>
  </property>
</Properties>
</file>